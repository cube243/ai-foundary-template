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CB090-1E4C-8EE7-A4FA-9CCDF05E8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7DFEDB-27F1-0739-8B9D-2D0283ED0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3A0373-B6C1-9BA0-D698-24D8CEC3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4C230D-9B9A-6FFD-1E88-C886DC6F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9D6051-1321-C3C4-570D-FBFAB8C7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274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3B6BD3-9188-FBBE-0E36-13DE3B52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2BC6E2-830B-FCA1-060C-BE01E45D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77F1F3-0825-2501-128B-92EBF8B9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DA2C5F-48E7-D1C0-E6C6-B794146E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417D0B-6514-9166-ECBC-4D952B00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250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69DB7-221D-FFC3-D893-6B36D1FF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B481EB-BD4F-670D-F97D-72CC70114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E9289A-8D29-775B-36F0-DCE77C62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BB006E-338C-23A8-2544-5E8F84CE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B0FBD5-B2F8-6669-31B8-B9B355AE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879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F3A03-420C-6236-897E-E6E884B4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1D44E7-BE0B-03F0-41F8-7248A416D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E0FA6C-742E-8A82-2E59-1FEBF0E5D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F28FDD-72EB-4896-BCF2-5ABE4990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0A82CE-E1E9-23AC-3CCE-66A1FF93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53FD10-5119-324E-BAFD-BD5F31FC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17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97E57-0198-DAC1-6914-7DE7053B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C6F632-F3F6-D38C-9E5B-EE1E9D70E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D82941-62A2-F88C-8172-33B4F3489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24E45E-0ABB-37E3-356D-C1B44B7A8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89F538-E67D-50BC-33A0-87256FD5E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B66F0E-41FA-F78B-F13A-9454DB4D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7D1F3FB-56A7-85EC-CE60-FECEA90E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812C6E-7BDC-E799-7787-7D730039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16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0406C-EE56-6394-4DDF-2AA22F79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C58995-8C7F-38E4-D985-09B7D58A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763233-ACEF-F7B7-26F2-B81B1DFE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DB755A-B573-DBE6-EAC0-7BBFD3C8C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44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D873F5-3186-D16A-9795-6F481B14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F744CF-576B-99DC-3E9B-73F2BA81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3D27A5-586A-2CDF-B3A1-C0831699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93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E623C-4506-0196-7496-461412536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2FDA9F-2815-D64E-11FA-91991E7A1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2E1ABF-AF49-A5DB-DC39-778957569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C5191F-B1E4-FB1D-65D3-902F0B5E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7ED1E4-BCEB-340C-9B6D-5E9702F4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F3309D-FECE-14CC-F341-725CD706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62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B26E6-560C-FDCC-26B4-FB946F76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BF3E59-3365-BF82-B974-1725B8B1A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397F26-12AC-5500-CFD8-F4541296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73BA65-CAD6-CAF2-2097-4B6B5913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75701A-0F72-D46F-862C-7B75D550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67B64A-3328-F754-A52E-8DF599F3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17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63F14B-B774-5CD5-9D83-0D4B4BBA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BEE565-449F-3549-2403-31F3ADC84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52A5E9-3ED3-AB8E-C37A-12D29CCB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5266C2-AA82-F47F-00DE-F04DE144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1C115B-B723-6EA2-5933-CB6E4A01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27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2DDA75E-CDEB-7473-AFD2-AB72F7DE5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AE41A9-C8D2-FFB5-85F8-CB8164391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6668CE-035E-249E-8E9D-B712F3D6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CC99E-241E-5D63-B6E6-640B128C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5131D0-1301-689D-8737-20FBD0D3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00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19B39E-706F-2ECD-BB9C-A8FADBD8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86D32A-9FA9-251C-5580-0C9ED8F75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C9D944-3357-657A-C1DB-E1F16CF0C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7DE03-698E-4B93-AF88-9E8FBBCA93E5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84DC4F-8299-39EA-2D99-C0BC18FB6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E34471-47B8-D4CA-F40B-E1B581819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B00E4-624D-40D3-9724-B28AC52039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92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49E82-84A0-317E-2F99-B527E349C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3D9373-95BD-D3AB-B445-EC4FAA2CF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41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A6719-9603-6CE3-4606-F70121AF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961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メイリオ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91159B-1153-3225-35FA-F60290ED4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704"/>
            <a:ext cx="10515600" cy="5111259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　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5C706E3-B79E-DE4B-9A37-37CF41638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132357"/>
              </p:ext>
            </p:extLst>
          </p:nvPr>
        </p:nvGraphicFramePr>
        <p:xfrm>
          <a:off x="4343217" y="502920"/>
          <a:ext cx="7848783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314">
                  <a:extLst>
                    <a:ext uri="{9D8B030D-6E8A-4147-A177-3AD203B41FA5}">
                      <a16:colId xmlns:a16="http://schemas.microsoft.com/office/drawing/2014/main" val="1127359568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3440379655"/>
                    </a:ext>
                  </a:extLst>
                </a:gridCol>
                <a:gridCol w="1381470">
                  <a:extLst>
                    <a:ext uri="{9D8B030D-6E8A-4147-A177-3AD203B41FA5}">
                      <a16:colId xmlns:a16="http://schemas.microsoft.com/office/drawing/2014/main" val="3032056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時間</a:t>
                      </a:r>
                      <a:r>
                        <a:rPr kumimoji="1" lang="en-US" altLang="ja-JP" sz="1100" dirty="0"/>
                        <a:t>(h)</a:t>
                      </a:r>
                      <a:r>
                        <a:rPr kumimoji="1" lang="ja-JP" altLang="en-US" sz="1100" dirty="0"/>
                        <a:t>　白石見積もり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8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 </a:t>
                      </a:r>
                      <a:r>
                        <a:rPr kumimoji="1" lang="ja-JP" altLang="en-US" sz="1100" dirty="0"/>
                        <a:t>調査・学習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err="1"/>
                        <a:t>AgentCore</a:t>
                      </a:r>
                      <a:r>
                        <a:rPr kumimoji="1" lang="ja-JP" altLang="en-US" sz="1100" dirty="0"/>
                        <a:t>とは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ja-JP" altLang="en-US" sz="1100" dirty="0"/>
                        <a:t>概要調査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06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Runtime</a:t>
                      </a:r>
                      <a:r>
                        <a:rPr kumimoji="1" lang="ja-JP" altLang="en-US" sz="1100" dirty="0"/>
                        <a:t>理解</a:t>
                      </a:r>
                      <a:r>
                        <a:rPr kumimoji="1" lang="en-US" altLang="ja-JP" sz="1100" dirty="0"/>
                        <a:t>~</a:t>
                      </a:r>
                      <a:r>
                        <a:rPr kumimoji="1" lang="ja-JP" altLang="en-US" sz="1100" dirty="0"/>
                        <a:t>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33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Gateway</a:t>
                      </a:r>
                      <a:r>
                        <a:rPr kumimoji="1" lang="ja-JP" altLang="en-US" sz="1100" dirty="0"/>
                        <a:t>理解</a:t>
                      </a:r>
                      <a:r>
                        <a:rPr kumimoji="1" lang="en-US" altLang="ja-JP" sz="1100" dirty="0"/>
                        <a:t>~</a:t>
                      </a:r>
                      <a:r>
                        <a:rPr kumimoji="1" lang="ja-JP" altLang="en-US" sz="1100" dirty="0"/>
                        <a:t>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07902"/>
                  </a:ext>
                </a:extLst>
              </a:tr>
              <a:tr h="16992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認証方式の理解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4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6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81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2. </a:t>
                      </a:r>
                      <a:r>
                        <a:rPr kumimoji="1" lang="ja-JP" altLang="en-US" sz="1100" dirty="0"/>
                        <a:t>シングルエージェント初回実装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シングルエージェント実装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ja-JP" altLang="en-US" sz="1100" dirty="0"/>
                        <a:t>知見習得後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9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IAM</a:t>
                      </a:r>
                      <a:r>
                        <a:rPr kumimoji="1" lang="ja-JP" altLang="en-US" sz="1100" dirty="0"/>
                        <a:t>ロール設計・アタッチ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0.5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32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CI/CD</a:t>
                      </a:r>
                      <a:r>
                        <a:rPr kumimoji="1" lang="ja-JP" altLang="en-US" sz="1100" dirty="0"/>
                        <a:t>構築</a:t>
                      </a:r>
                      <a:r>
                        <a:rPr kumimoji="1" lang="en-US" altLang="ja-JP" sz="1100" dirty="0"/>
                        <a:t>(Terraform</a:t>
                      </a:r>
                      <a:r>
                        <a:rPr kumimoji="1" lang="ja-JP" altLang="en-US" sz="1100" dirty="0"/>
                        <a:t>、</a:t>
                      </a:r>
                      <a:r>
                        <a:rPr kumimoji="1" lang="en-US" altLang="ja-JP" sz="1100" dirty="0"/>
                        <a:t>GitHub Actions</a:t>
                      </a:r>
                      <a:r>
                        <a:rPr kumimoji="1" lang="ja-JP" altLang="en-US" sz="1100" dirty="0"/>
                        <a:t>、</a:t>
                      </a:r>
                      <a:r>
                        <a:rPr kumimoji="1" lang="en-US" altLang="ja-JP" sz="1100" dirty="0"/>
                        <a:t>IAM</a:t>
                      </a:r>
                      <a:r>
                        <a:rPr kumimoji="1" lang="ja-JP" altLang="en-US" sz="1100" dirty="0"/>
                        <a:t>アタッチ含む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39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87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3. </a:t>
                      </a:r>
                      <a:r>
                        <a:rPr kumimoji="1" lang="ja-JP" altLang="en-US" sz="1100" dirty="0"/>
                        <a:t>オーケストレーションエージェント実装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設計、実装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71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疎通確認、バグ修正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0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7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4. </a:t>
                      </a:r>
                      <a:r>
                        <a:rPr kumimoji="1" lang="ja-JP" altLang="en-US" sz="1100" dirty="0"/>
                        <a:t>ガードレール</a:t>
                      </a:r>
                      <a:r>
                        <a:rPr kumimoji="1" lang="en-US" altLang="ja-JP" sz="1100" dirty="0"/>
                        <a:t>/</a:t>
                      </a:r>
                      <a:r>
                        <a:rPr kumimoji="1" lang="ja-JP" altLang="en-US" sz="1100" dirty="0"/>
                        <a:t>モニタリング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ガードレール調査、実装、動作確認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94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Observability</a:t>
                      </a:r>
                      <a:r>
                        <a:rPr kumimoji="1" lang="ja-JP" altLang="en-US" sz="1100" dirty="0"/>
                        <a:t>機能調査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98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Observability</a:t>
                      </a:r>
                      <a:r>
                        <a:rPr kumimoji="1" lang="ja-JP" altLang="en-US" sz="1100" dirty="0"/>
                        <a:t>デプロイ・動作確認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en-US" altLang="ja-JP" sz="1100" dirty="0" err="1"/>
                        <a:t>otel</a:t>
                      </a:r>
                      <a:r>
                        <a:rPr kumimoji="1" lang="ja-JP" altLang="en-US" sz="1100" dirty="0"/>
                        <a:t>、トランザクション設定含む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91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テナント別</a:t>
                      </a:r>
                      <a:r>
                        <a:rPr kumimoji="1" lang="en-US" altLang="ja-JP" sz="1100" dirty="0"/>
                        <a:t>LLM</a:t>
                      </a:r>
                      <a:r>
                        <a:rPr kumimoji="1" lang="ja-JP" altLang="en-US" sz="1100" dirty="0"/>
                        <a:t>コスト計測：調査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04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テナント別</a:t>
                      </a:r>
                      <a:r>
                        <a:rPr kumimoji="1" lang="en-US" altLang="ja-JP" sz="1100" dirty="0"/>
                        <a:t>LLM</a:t>
                      </a:r>
                      <a:r>
                        <a:rPr kumimoji="1" lang="ja-JP" altLang="en-US" sz="1100" dirty="0"/>
                        <a:t>コスト計測：実装、バグ修正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8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7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39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19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70298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F05458-A15A-77F5-89D0-30A03A2ADDF5}"/>
              </a:ext>
            </a:extLst>
          </p:cNvPr>
          <p:cNvSpPr txBox="1"/>
          <p:nvPr/>
        </p:nvSpPr>
        <p:spPr>
          <a:xfrm>
            <a:off x="80877" y="1065704"/>
            <a:ext cx="6545382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Before</a:t>
            </a:r>
            <a:r>
              <a:rPr lang="ja-JP" altLang="en-US" dirty="0"/>
              <a:t>を想定する開発者イメージ</a:t>
            </a:r>
            <a:endParaRPr lang="en-US" altLang="ja-JP" dirty="0"/>
          </a:p>
          <a:p>
            <a:r>
              <a:rPr lang="ja-JP" altLang="en-US" b="1" dirty="0"/>
              <a:t>保有スキル</a:t>
            </a:r>
            <a:endParaRPr lang="en-US" altLang="ja-JP" b="1" dirty="0"/>
          </a:p>
          <a:p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エージェント実装経験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を用いた開発経験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GitHub Actions</a:t>
            </a:r>
            <a:r>
              <a:rPr lang="ja-JP" altLang="en-US" dirty="0"/>
              <a:t>を用いた</a:t>
            </a:r>
            <a:r>
              <a:rPr kumimoji="1" lang="en-US" altLang="ja-JP" dirty="0"/>
              <a:t>CICD</a:t>
            </a:r>
            <a:r>
              <a:rPr kumimoji="1" lang="ja-JP" altLang="en-US" dirty="0"/>
              <a:t>構築経験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コーディングを日頃活用している</a:t>
            </a:r>
            <a:endParaRPr lang="en-US" altLang="ja-JP" dirty="0"/>
          </a:p>
          <a:p>
            <a:r>
              <a:rPr kumimoji="1" lang="ja-JP" altLang="en-US" b="1" dirty="0"/>
              <a:t>保有しないスキル</a:t>
            </a:r>
            <a:endParaRPr kumimoji="1" lang="en-US" altLang="ja-JP" b="1" dirty="0"/>
          </a:p>
          <a:p>
            <a:r>
              <a:rPr lang="ja-JP" altLang="en-US" dirty="0"/>
              <a:t>・</a:t>
            </a:r>
            <a:r>
              <a:rPr lang="en-US" altLang="ja-JP" dirty="0" err="1"/>
              <a:t>AgentCore</a:t>
            </a:r>
            <a:r>
              <a:rPr lang="ja-JP" altLang="en-US" dirty="0"/>
              <a:t>に対する知見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Before</a:t>
            </a:r>
            <a:r>
              <a:rPr lang="ja-JP" altLang="en-US" dirty="0"/>
              <a:t>：</a:t>
            </a:r>
            <a:r>
              <a:rPr lang="en-US" altLang="ja-JP" dirty="0"/>
              <a:t>19</a:t>
            </a:r>
            <a:r>
              <a:rPr lang="ja-JP" altLang="en-US" dirty="0"/>
              <a:t>時間</a:t>
            </a:r>
            <a:endParaRPr lang="en-US" altLang="ja-JP" dirty="0"/>
          </a:p>
          <a:p>
            <a:r>
              <a:rPr kumimoji="1" lang="en-US" altLang="ja-JP" dirty="0"/>
              <a:t>After</a:t>
            </a:r>
            <a:r>
              <a:rPr kumimoji="1" lang="ja-JP" altLang="en-US" dirty="0"/>
              <a:t>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時間</a:t>
            </a:r>
            <a:r>
              <a:rPr kumimoji="1" lang="en-US" altLang="ja-JP" dirty="0"/>
              <a:t>1</a:t>
            </a:r>
            <a:r>
              <a:rPr kumimoji="1" lang="ja-JP" altLang="en-US" dirty="0"/>
              <a:t>分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削減時間：約</a:t>
            </a:r>
            <a:r>
              <a:rPr kumimoji="1" lang="en-US" altLang="ja-JP" dirty="0"/>
              <a:t>18</a:t>
            </a:r>
            <a:r>
              <a:rPr kumimoji="1" lang="ja-JP" altLang="en-US" dirty="0"/>
              <a:t>時間</a:t>
            </a:r>
            <a:endParaRPr kumimoji="1" lang="en-US" altLang="ja-JP" dirty="0"/>
          </a:p>
          <a:p>
            <a:r>
              <a:rPr lang="ja-JP" altLang="en-US" dirty="0"/>
              <a:t>削減率：約</a:t>
            </a:r>
            <a:r>
              <a:rPr lang="en-US" altLang="ja-JP" dirty="0"/>
              <a:t>94.6%</a:t>
            </a:r>
          </a:p>
          <a:p>
            <a:r>
              <a:rPr lang="ja-JP" altLang="en-US" dirty="0"/>
              <a:t>倍率：約</a:t>
            </a:r>
            <a:r>
              <a:rPr lang="en-US" altLang="ja-JP" dirty="0"/>
              <a:t>18.7</a:t>
            </a:r>
            <a:r>
              <a:rPr lang="ja-JP" altLang="en-US" dirty="0"/>
              <a:t>倍の速度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オーケストレーション単体は</a:t>
            </a:r>
            <a:r>
              <a:rPr lang="en-US" altLang="ja-JP" dirty="0"/>
              <a:t>2</a:t>
            </a:r>
            <a:r>
              <a:rPr lang="ja-JP" altLang="en-US" dirty="0"/>
              <a:t>時間、そ</a:t>
            </a:r>
            <a:endParaRPr lang="en-US" altLang="ja-JP" dirty="0"/>
          </a:p>
          <a:p>
            <a:r>
              <a:rPr lang="ja-JP" altLang="en-US" dirty="0"/>
              <a:t>の他様々なパターンも同様</a:t>
            </a:r>
            <a:r>
              <a:rPr lang="en-US" altLang="ja-JP" dirty="0"/>
              <a:t>2</a:t>
            </a:r>
            <a:r>
              <a:rPr lang="ja-JP" altLang="en-US" dirty="0"/>
              <a:t>時間想定。</a:t>
            </a:r>
            <a:endParaRPr lang="en-US" altLang="ja-JP" dirty="0"/>
          </a:p>
          <a:p>
            <a:r>
              <a:rPr kumimoji="1" lang="ja-JP" altLang="en-US" dirty="0"/>
              <a:t>仮に</a:t>
            </a:r>
            <a:r>
              <a:rPr lang="en-US" altLang="ja-JP" dirty="0"/>
              <a:t>50</a:t>
            </a:r>
            <a:r>
              <a:rPr lang="ja-JP" altLang="en-US" dirty="0"/>
              <a:t>件のコンポーネント作成すれば、</a:t>
            </a:r>
            <a:endParaRPr lang="en-US" altLang="ja-JP" dirty="0"/>
          </a:p>
          <a:p>
            <a:r>
              <a:rPr kumimoji="1" lang="ja-JP" altLang="en-US" dirty="0"/>
              <a:t>約</a:t>
            </a:r>
            <a:r>
              <a:rPr kumimoji="1" lang="en-US" altLang="ja-JP" dirty="0"/>
              <a:t>900</a:t>
            </a:r>
            <a:r>
              <a:rPr kumimoji="1" lang="ja-JP" altLang="en-US" dirty="0"/>
              <a:t>時間の削減。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なお、</a:t>
            </a:r>
            <a:r>
              <a:rPr kumimoji="1" lang="en-US" altLang="ja-JP" dirty="0"/>
              <a:t>1</a:t>
            </a:r>
            <a:r>
              <a:rPr kumimoji="1" lang="ja-JP" altLang="en-US" dirty="0"/>
              <a:t>時間は現状値であり、エラー修正などの部分が残る。</a:t>
            </a:r>
            <a:endParaRPr kumimoji="1" lang="en-US" altLang="ja-JP" dirty="0"/>
          </a:p>
          <a:p>
            <a:r>
              <a:rPr lang="en-US" altLang="ja-JP" dirty="0"/>
              <a:t>Skills</a:t>
            </a:r>
            <a:r>
              <a:rPr lang="ja-JP" altLang="en-US" dirty="0"/>
              <a:t>による最適化による短縮の余地がある。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684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7D92-2544-BD6D-C3A4-16CEA193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75550-1DED-BEC1-8067-6D2C6B1E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961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メイリオ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1973B2-C08F-E16F-67B6-8B64D0283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704"/>
            <a:ext cx="10515600" cy="5111259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　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A588257-B5F9-7909-839F-4B4F66D340FA}"/>
              </a:ext>
            </a:extLst>
          </p:cNvPr>
          <p:cNvGraphicFramePr>
            <a:graphicFrameLocks noGrp="1"/>
          </p:cNvGraphicFramePr>
          <p:nvPr/>
        </p:nvGraphicFramePr>
        <p:xfrm>
          <a:off x="4343217" y="502920"/>
          <a:ext cx="7848783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314">
                  <a:extLst>
                    <a:ext uri="{9D8B030D-6E8A-4147-A177-3AD203B41FA5}">
                      <a16:colId xmlns:a16="http://schemas.microsoft.com/office/drawing/2014/main" val="1127359568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3440379655"/>
                    </a:ext>
                  </a:extLst>
                </a:gridCol>
                <a:gridCol w="1381470">
                  <a:extLst>
                    <a:ext uri="{9D8B030D-6E8A-4147-A177-3AD203B41FA5}">
                      <a16:colId xmlns:a16="http://schemas.microsoft.com/office/drawing/2014/main" val="3032056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時間</a:t>
                      </a:r>
                      <a:r>
                        <a:rPr kumimoji="1" lang="en-US" altLang="ja-JP" sz="1100" dirty="0"/>
                        <a:t>(h)</a:t>
                      </a:r>
                      <a:r>
                        <a:rPr kumimoji="1" lang="ja-JP" altLang="en-US" sz="1100" dirty="0"/>
                        <a:t>　白石見積もり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8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 </a:t>
                      </a:r>
                      <a:r>
                        <a:rPr kumimoji="1" lang="ja-JP" altLang="en-US" sz="1100" dirty="0"/>
                        <a:t>調査・学習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err="1"/>
                        <a:t>AgentCore</a:t>
                      </a:r>
                      <a:r>
                        <a:rPr kumimoji="1" lang="ja-JP" altLang="en-US" sz="1100" dirty="0"/>
                        <a:t>とは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ja-JP" altLang="en-US" sz="1100" dirty="0"/>
                        <a:t>概要調査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06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Runtime</a:t>
                      </a:r>
                      <a:r>
                        <a:rPr kumimoji="1" lang="ja-JP" altLang="en-US" sz="1100" dirty="0"/>
                        <a:t>理解</a:t>
                      </a:r>
                      <a:r>
                        <a:rPr kumimoji="1" lang="en-US" altLang="ja-JP" sz="1100" dirty="0"/>
                        <a:t>~</a:t>
                      </a:r>
                      <a:r>
                        <a:rPr kumimoji="1" lang="ja-JP" altLang="en-US" sz="1100" dirty="0"/>
                        <a:t>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33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Gateway</a:t>
                      </a:r>
                      <a:r>
                        <a:rPr kumimoji="1" lang="ja-JP" altLang="en-US" sz="1100" dirty="0"/>
                        <a:t>理解</a:t>
                      </a:r>
                      <a:r>
                        <a:rPr kumimoji="1" lang="en-US" altLang="ja-JP" sz="1100" dirty="0"/>
                        <a:t>~</a:t>
                      </a:r>
                      <a:r>
                        <a:rPr kumimoji="1" lang="ja-JP" altLang="en-US" sz="1100" dirty="0"/>
                        <a:t>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07902"/>
                  </a:ext>
                </a:extLst>
              </a:tr>
              <a:tr h="16992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認証方式の理解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4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6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81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2. </a:t>
                      </a:r>
                      <a:r>
                        <a:rPr kumimoji="1" lang="ja-JP" altLang="en-US" sz="1100" dirty="0"/>
                        <a:t>シングルエージェント初回実装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シングルエージェント実装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ja-JP" altLang="en-US" sz="1100" dirty="0"/>
                        <a:t>知見習得後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9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IAM</a:t>
                      </a:r>
                      <a:r>
                        <a:rPr kumimoji="1" lang="ja-JP" altLang="en-US" sz="1100" dirty="0"/>
                        <a:t>ロール設計・アタッチ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0.5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32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CI/CD</a:t>
                      </a:r>
                      <a:r>
                        <a:rPr kumimoji="1" lang="ja-JP" altLang="en-US" sz="1100" dirty="0"/>
                        <a:t>構築</a:t>
                      </a:r>
                      <a:r>
                        <a:rPr kumimoji="1" lang="en-US" altLang="ja-JP" sz="1100" dirty="0"/>
                        <a:t>(Terraform</a:t>
                      </a:r>
                      <a:r>
                        <a:rPr kumimoji="1" lang="ja-JP" altLang="en-US" sz="1100" dirty="0"/>
                        <a:t>、</a:t>
                      </a:r>
                      <a:r>
                        <a:rPr kumimoji="1" lang="en-US" altLang="ja-JP" sz="1100" dirty="0"/>
                        <a:t>GitHub Actions</a:t>
                      </a:r>
                      <a:r>
                        <a:rPr kumimoji="1" lang="ja-JP" altLang="en-US" sz="1100" dirty="0"/>
                        <a:t>、</a:t>
                      </a:r>
                      <a:r>
                        <a:rPr kumimoji="1" lang="en-US" altLang="ja-JP" sz="1100" dirty="0"/>
                        <a:t>IAM</a:t>
                      </a:r>
                      <a:r>
                        <a:rPr kumimoji="1" lang="ja-JP" altLang="en-US" sz="1100" dirty="0"/>
                        <a:t>アタッチ含む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39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87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3. </a:t>
                      </a:r>
                      <a:r>
                        <a:rPr kumimoji="1" lang="ja-JP" altLang="en-US" sz="1100" dirty="0"/>
                        <a:t>オーケストレーションエージェント実装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設計、実装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71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疎通確認、バグ修正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0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7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4. </a:t>
                      </a:r>
                      <a:r>
                        <a:rPr kumimoji="1" lang="ja-JP" altLang="en-US" sz="1100" dirty="0"/>
                        <a:t>ガードレール</a:t>
                      </a:r>
                      <a:r>
                        <a:rPr kumimoji="1" lang="en-US" altLang="ja-JP" sz="1100" dirty="0"/>
                        <a:t>/</a:t>
                      </a:r>
                      <a:r>
                        <a:rPr kumimoji="1" lang="ja-JP" altLang="en-US" sz="1100" dirty="0"/>
                        <a:t>モニタリング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ガードレール調査、実装、動作確認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94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Observability</a:t>
                      </a:r>
                      <a:r>
                        <a:rPr kumimoji="1" lang="ja-JP" altLang="en-US" sz="1100" dirty="0"/>
                        <a:t>機能調査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98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Observability</a:t>
                      </a:r>
                      <a:r>
                        <a:rPr kumimoji="1" lang="ja-JP" altLang="en-US" sz="1100" dirty="0"/>
                        <a:t>デプロイ・動作確認</a:t>
                      </a:r>
                      <a:r>
                        <a:rPr kumimoji="1" lang="en-US" altLang="ja-JP" sz="1100" dirty="0"/>
                        <a:t>(</a:t>
                      </a:r>
                      <a:r>
                        <a:rPr kumimoji="1" lang="en-US" altLang="ja-JP" sz="1100" dirty="0" err="1"/>
                        <a:t>otel</a:t>
                      </a:r>
                      <a:r>
                        <a:rPr kumimoji="1" lang="ja-JP" altLang="en-US" sz="1100" dirty="0"/>
                        <a:t>、トランザクション設定含む</a:t>
                      </a:r>
                      <a:r>
                        <a:rPr kumimoji="1" lang="en-US" altLang="ja-JP" sz="1100" dirty="0"/>
                        <a:t>)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91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テナント別</a:t>
                      </a:r>
                      <a:r>
                        <a:rPr kumimoji="1" lang="en-US" altLang="ja-JP" sz="1100" dirty="0"/>
                        <a:t>LLM</a:t>
                      </a:r>
                      <a:r>
                        <a:rPr kumimoji="1" lang="ja-JP" altLang="en-US" sz="1100" dirty="0"/>
                        <a:t>コスト計測：調査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04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テナント別</a:t>
                      </a:r>
                      <a:r>
                        <a:rPr kumimoji="1" lang="en-US" altLang="ja-JP" sz="1100" dirty="0"/>
                        <a:t>LLM</a:t>
                      </a:r>
                      <a:r>
                        <a:rPr kumimoji="1" lang="ja-JP" altLang="en-US" sz="1100" dirty="0"/>
                        <a:t>コスト計測：実装、バグ修正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1.5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8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小計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7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39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19</a:t>
                      </a:r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70298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27E52E-88EB-F40D-6E08-2D9B2DC80AA2}"/>
              </a:ext>
            </a:extLst>
          </p:cNvPr>
          <p:cNvSpPr txBox="1"/>
          <p:nvPr/>
        </p:nvSpPr>
        <p:spPr>
          <a:xfrm>
            <a:off x="80877" y="1065704"/>
            <a:ext cx="6545382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Before</a:t>
            </a:r>
            <a:r>
              <a:rPr lang="ja-JP" altLang="en-US" dirty="0"/>
              <a:t>を想定する開発者イメージ</a:t>
            </a:r>
            <a:endParaRPr lang="en-US" altLang="ja-JP" dirty="0"/>
          </a:p>
          <a:p>
            <a:r>
              <a:rPr lang="ja-JP" altLang="en-US" b="1" dirty="0"/>
              <a:t>保有スキル</a:t>
            </a:r>
            <a:endParaRPr lang="en-US" altLang="ja-JP" b="1" dirty="0"/>
          </a:p>
          <a:p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エージェント実装経験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を用いた開発経験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GitHub Actions</a:t>
            </a:r>
            <a:r>
              <a:rPr lang="ja-JP" altLang="en-US" dirty="0"/>
              <a:t>を用いた</a:t>
            </a:r>
            <a:r>
              <a:rPr kumimoji="1" lang="en-US" altLang="ja-JP" dirty="0"/>
              <a:t>CICD</a:t>
            </a:r>
            <a:r>
              <a:rPr kumimoji="1" lang="ja-JP" altLang="en-US" dirty="0"/>
              <a:t>構築経験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コーディングを日頃活用している</a:t>
            </a:r>
            <a:endParaRPr lang="en-US" altLang="ja-JP" dirty="0"/>
          </a:p>
          <a:p>
            <a:r>
              <a:rPr kumimoji="1" lang="ja-JP" altLang="en-US" b="1" dirty="0"/>
              <a:t>保有しないスキル</a:t>
            </a:r>
            <a:endParaRPr kumimoji="1" lang="en-US" altLang="ja-JP" b="1" dirty="0"/>
          </a:p>
          <a:p>
            <a:r>
              <a:rPr lang="ja-JP" altLang="en-US" dirty="0"/>
              <a:t>・</a:t>
            </a:r>
            <a:r>
              <a:rPr lang="en-US" altLang="ja-JP" dirty="0" err="1"/>
              <a:t>AgentCore</a:t>
            </a:r>
            <a:r>
              <a:rPr lang="ja-JP" altLang="en-US" dirty="0"/>
              <a:t>に対する知見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Before</a:t>
            </a:r>
            <a:r>
              <a:rPr lang="ja-JP" altLang="en-US" dirty="0"/>
              <a:t>：</a:t>
            </a:r>
            <a:r>
              <a:rPr lang="en-US" altLang="ja-JP" dirty="0"/>
              <a:t>19</a:t>
            </a:r>
            <a:r>
              <a:rPr lang="ja-JP" altLang="en-US" dirty="0"/>
              <a:t>時間</a:t>
            </a:r>
            <a:endParaRPr lang="en-US" altLang="ja-JP" dirty="0"/>
          </a:p>
          <a:p>
            <a:r>
              <a:rPr kumimoji="1" lang="en-US" altLang="ja-JP" dirty="0"/>
              <a:t>After</a:t>
            </a:r>
            <a:r>
              <a:rPr kumimoji="1" lang="ja-JP" altLang="en-US" dirty="0"/>
              <a:t>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時間</a:t>
            </a:r>
            <a:r>
              <a:rPr kumimoji="1" lang="en-US" altLang="ja-JP" dirty="0"/>
              <a:t>1</a:t>
            </a:r>
            <a:r>
              <a:rPr kumimoji="1" lang="ja-JP" altLang="en-US" dirty="0"/>
              <a:t>分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削減時間：約</a:t>
            </a:r>
            <a:r>
              <a:rPr kumimoji="1" lang="en-US" altLang="ja-JP" dirty="0"/>
              <a:t>18</a:t>
            </a:r>
            <a:r>
              <a:rPr kumimoji="1" lang="ja-JP" altLang="en-US" dirty="0"/>
              <a:t>時間</a:t>
            </a:r>
            <a:endParaRPr kumimoji="1" lang="en-US" altLang="ja-JP" dirty="0"/>
          </a:p>
          <a:p>
            <a:r>
              <a:rPr lang="ja-JP" altLang="en-US" dirty="0"/>
              <a:t>削減率：約</a:t>
            </a:r>
            <a:r>
              <a:rPr lang="en-US" altLang="ja-JP" dirty="0"/>
              <a:t>94.6%</a:t>
            </a:r>
          </a:p>
          <a:p>
            <a:r>
              <a:rPr lang="ja-JP" altLang="en-US" dirty="0"/>
              <a:t>倍率：約</a:t>
            </a:r>
            <a:r>
              <a:rPr lang="en-US" altLang="ja-JP" dirty="0"/>
              <a:t>18.7</a:t>
            </a:r>
            <a:r>
              <a:rPr lang="ja-JP" altLang="en-US" dirty="0"/>
              <a:t>倍の速度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オーケストレーション単体は</a:t>
            </a:r>
            <a:r>
              <a:rPr lang="en-US" altLang="ja-JP" dirty="0"/>
              <a:t>2</a:t>
            </a:r>
            <a:r>
              <a:rPr lang="ja-JP" altLang="en-US" dirty="0"/>
              <a:t>時間、そ</a:t>
            </a:r>
            <a:endParaRPr lang="en-US" altLang="ja-JP" dirty="0"/>
          </a:p>
          <a:p>
            <a:r>
              <a:rPr lang="ja-JP" altLang="en-US" dirty="0"/>
              <a:t>の他様々なパターンも同様</a:t>
            </a:r>
            <a:r>
              <a:rPr lang="en-US" altLang="ja-JP" dirty="0"/>
              <a:t>2</a:t>
            </a:r>
            <a:r>
              <a:rPr lang="ja-JP" altLang="en-US" dirty="0"/>
              <a:t>時間想定。</a:t>
            </a:r>
            <a:endParaRPr lang="en-US" altLang="ja-JP" dirty="0"/>
          </a:p>
          <a:p>
            <a:r>
              <a:rPr kumimoji="1" lang="ja-JP" altLang="en-US" dirty="0"/>
              <a:t>仮に</a:t>
            </a:r>
            <a:r>
              <a:rPr lang="en-US" altLang="ja-JP" dirty="0"/>
              <a:t>50</a:t>
            </a:r>
            <a:r>
              <a:rPr lang="ja-JP" altLang="en-US" dirty="0"/>
              <a:t>件のコンポーネント作成すれば、</a:t>
            </a:r>
            <a:endParaRPr lang="en-US" altLang="ja-JP" dirty="0"/>
          </a:p>
          <a:p>
            <a:r>
              <a:rPr kumimoji="1" lang="ja-JP" altLang="en-US" dirty="0"/>
              <a:t>約</a:t>
            </a:r>
            <a:r>
              <a:rPr kumimoji="1" lang="en-US" altLang="ja-JP" dirty="0"/>
              <a:t>900</a:t>
            </a:r>
            <a:r>
              <a:rPr kumimoji="1" lang="ja-JP" altLang="en-US" dirty="0"/>
              <a:t>時間の削減。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なお、</a:t>
            </a:r>
            <a:r>
              <a:rPr kumimoji="1" lang="en-US" altLang="ja-JP" dirty="0"/>
              <a:t>1</a:t>
            </a:r>
            <a:r>
              <a:rPr kumimoji="1" lang="ja-JP" altLang="en-US" dirty="0"/>
              <a:t>時間は現状値であり、エラー修正などの部分が残る。</a:t>
            </a:r>
            <a:endParaRPr kumimoji="1" lang="en-US" altLang="ja-JP" dirty="0"/>
          </a:p>
          <a:p>
            <a:r>
              <a:rPr lang="en-US" altLang="ja-JP" dirty="0"/>
              <a:t>Skills</a:t>
            </a:r>
            <a:r>
              <a:rPr lang="ja-JP" altLang="en-US" dirty="0"/>
              <a:t>による最適化による短縮の余地がある。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5851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45F8F9-E039-BF47-8965-29EDF851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7CF6AA-9BE8-AABE-5142-22141C7F2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1035CD6-6F67-E507-1EB1-D732188A6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166" y="659546"/>
            <a:ext cx="8253122" cy="583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5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554</Words>
  <Application>Microsoft Office PowerPoint</Application>
  <PresentationFormat>ワイド画面</PresentationFormat>
  <Paragraphs>140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メイリオ</vt:lpstr>
      <vt:lpstr>メイリオ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幸寛 白石</dc:creator>
  <cp:lastModifiedBy>幸寛 白石</cp:lastModifiedBy>
  <cp:revision>7</cp:revision>
  <dcterms:created xsi:type="dcterms:W3CDTF">2026-09-13T13:32:47Z</dcterms:created>
  <dcterms:modified xsi:type="dcterms:W3CDTF">2026-09-13T16:45:38Z</dcterms:modified>
</cp:coreProperties>
</file>